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0B1F3A"/>
            </a:solidFill>
            <a:ln w="25400" cap="flat">
              <a:solidFill>
                <a:srgbClr val="0B1F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B1F3A"/>
              </a:solidFill>
              <a:ln w="9525" cap="flat">
                <a:solidFill>
                  <a:srgbClr val="0B1F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</c:v>
                </c:pt>
                <c:pt idx="1">
                  <c:v>45</c:v>
                </c:pt>
                <c:pt idx="2">
                  <c:v>44</c:v>
                </c:pt>
                <c:pt idx="3">
                  <c:v>43</c:v>
                </c:pt>
                <c:pt idx="4">
                  <c:v>42</c:v>
                </c:pt>
                <c:pt idx="5">
                  <c:v>3</c:v>
                </c:pt>
                <c:pt idx="6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C8102E"/>
            </a:solidFill>
            <a:ln w="254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46</c:v>
                </c:pt>
                <c:pt idx="1">
                  <c:v>47</c:v>
                </c:pt>
                <c:pt idx="2">
                  <c:v>44</c:v>
                </c:pt>
                <c:pt idx="3">
                  <c:v>43</c:v>
                </c:pt>
                <c:pt idx="4">
                  <c:v>42</c:v>
                </c:pt>
                <c:pt idx="5">
                  <c:v>3</c:v>
                </c:pt>
                <c:pt idx="6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Calibri"/>
                  </a:rPr>
                  <a:t>Share of days with Promo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Georgia"/>
              </a:rPr>
              <a:t>Mean daily sales by month (open stores)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daily sales</c:v>
                </c:pt>
              </c:strCache>
            </c:strRef>
          </c:tx>
          <c:spPr>
            <a:solidFill>
              <a:srgbClr val="C8102E"/>
            </a:solidFill>
            <a:ln w="254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6900</c:v>
                </c:pt>
                <c:pt idx="1">
                  <c:v>6750</c:v>
                </c:pt>
                <c:pt idx="2">
                  <c:v>7050</c:v>
                </c:pt>
                <c:pt idx="3">
                  <c:v>6850</c:v>
                </c:pt>
                <c:pt idx="4">
                  <c:v>7300</c:v>
                </c:pt>
                <c:pt idx="5">
                  <c:v>7150</c:v>
                </c:pt>
                <c:pt idx="6">
                  <c:v>7100</c:v>
                </c:pt>
                <c:pt idx="7">
                  <c:v>6600</c:v>
                </c:pt>
                <c:pt idx="8">
                  <c:v>6850</c:v>
                </c:pt>
                <c:pt idx="9">
                  <c:v>7100</c:v>
                </c:pt>
                <c:pt idx="10">
                  <c:v>7050</c:v>
                </c:pt>
                <c:pt idx="11">
                  <c:v>9200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  <c:min val="55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Georgia"/>
              </a:rPr>
              <a:t>Mean daily sales relative to state holidays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sales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4-7 d before</c:v>
                  </c:pt>
                  <c:pt idx="1">
                    <c:v>1-3 d before</c:v>
                  </c:pt>
                  <c:pt idx="2">
                    <c:v>1-3 d after</c:v>
                  </c:pt>
                  <c:pt idx="3">
                    <c:v>4-7 d after</c:v>
                  </c:pt>
                  <c:pt idx="4">
                    <c:v>Normal day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7600</c:v>
                </c:pt>
                <c:pt idx="1">
                  <c:v>8400</c:v>
                </c:pt>
                <c:pt idx="2">
                  <c:v>8100</c:v>
                </c:pt>
                <c:pt idx="3">
                  <c:v>7300</c:v>
                </c:pt>
                <c:pt idx="4">
                  <c:v>6950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Georgia"/>
              </a:rPr>
              <a:t>Mean daily sales by weekday (all stores)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sales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8200</c:v>
                </c:pt>
                <c:pt idx="1">
                  <c:v>7350</c:v>
                </c:pt>
                <c:pt idx="2">
                  <c:v>6900</c:v>
                </c:pt>
                <c:pt idx="3">
                  <c:v>6800</c:v>
                </c:pt>
                <c:pt idx="4">
                  <c:v>7200</c:v>
                </c:pt>
                <c:pt idx="5">
                  <c:v>6100</c:v>
                </c:pt>
                <c:pt idx="6">
                  <c:v>550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Georgia"/>
              </a:rPr>
              <a:t>December: mean sales by day of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 avg</c:v>
                </c:pt>
              </c:strCache>
            </c:strRef>
          </c:tx>
          <c:spPr>
            <a:solidFill>
              <a:srgbClr val="C8102E"/>
            </a:solidFill>
            <a:ln w="254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  <c:pt idx="8">
                    <c:v>17</c:v>
                  </c:pt>
                  <c:pt idx="9">
                    <c:v>19</c:v>
                  </c:pt>
                  <c:pt idx="10">
                    <c:v>21</c:v>
                  </c:pt>
                  <c:pt idx="11">
                    <c:v>22</c:v>
                  </c:pt>
                  <c:pt idx="12">
                    <c:v>23</c:v>
                  </c:pt>
                  <c:pt idx="13">
                    <c:v>30</c:v>
                  </c:pt>
                  <c:pt idx="14">
                    <c:v>31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7100</c:v>
                </c:pt>
                <c:pt idx="1">
                  <c:v>7400</c:v>
                </c:pt>
                <c:pt idx="2">
                  <c:v>7300</c:v>
                </c:pt>
                <c:pt idx="3">
                  <c:v>7500</c:v>
                </c:pt>
                <c:pt idx="4">
                  <c:v>8100</c:v>
                </c:pt>
                <c:pt idx="5">
                  <c:v>8300</c:v>
                </c:pt>
                <c:pt idx="6">
                  <c:v>8600</c:v>
                </c:pt>
                <c:pt idx="7">
                  <c:v>9200</c:v>
                </c:pt>
                <c:pt idx="8">
                  <c:v>10100</c:v>
                </c:pt>
                <c:pt idx="9">
                  <c:v>11400</c:v>
                </c:pt>
                <c:pt idx="10">
                  <c:v>13500</c:v>
                </c:pt>
                <c:pt idx="11">
                  <c:v>15200</c:v>
                </c:pt>
                <c:pt idx="12">
                  <c:v>16800</c:v>
                </c:pt>
                <c:pt idx="13">
                  <c:v>4800</c:v>
                </c:pt>
                <c:pt idx="14">
                  <c:v>5200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Georgia"/>
              </a:rPr>
              <a:t>What drives the +22 % promo uplift?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uplift under promo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Traffic (customers)</c:v>
                  </c:pt>
                  <c:pt idx="1">
                    <c:v>Basket size (spend/customer)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% uplift under Promo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Georgia"/>
              </a:rPr>
              <a:t>Distribution of per-store promo response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Stores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0-5%</c:v>
                  </c:pt>
                  <c:pt idx="1">
                    <c:v>5-10%</c:v>
                  </c:pt>
                  <c:pt idx="2">
                    <c:v>10-15%</c:v>
                  </c:pt>
                  <c:pt idx="3">
                    <c:v>15-20%</c:v>
                  </c:pt>
                  <c:pt idx="4">
                    <c:v>20-25%</c:v>
                  </c:pt>
                  <c:pt idx="5">
                    <c:v>25-30%</c:v>
                  </c:pt>
                  <c:pt idx="6">
                    <c:v>30-40%</c:v>
                  </c:pt>
                  <c:pt idx="7">
                    <c:v>40 %+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62</c:v>
                </c:pt>
                <c:pt idx="2">
                  <c:v>148</c:v>
                </c:pt>
                <c:pt idx="3">
                  <c:v>235</c:v>
                </c:pt>
                <c:pt idx="4">
                  <c:v>268</c:v>
                </c:pt>
                <c:pt idx="5">
                  <c:v>195</c:v>
                </c:pt>
                <c:pt idx="6">
                  <c:v>138</c:v>
                </c:pt>
                <c:pt idx="7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Sales uplift under Promo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Number of stores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Georgia"/>
              </a:rPr>
              <a:t>Mean sales vs distance to nearest competitor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sales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&lt;0.5km</c:v>
                  </c:pt>
                  <c:pt idx="1">
                    <c:v>0.5-1km</c:v>
                  </c:pt>
                  <c:pt idx="2">
                    <c:v>1-2.5km</c:v>
                  </c:pt>
                  <c:pt idx="3">
                    <c:v>2.5-5km</c:v>
                  </c:pt>
                  <c:pt idx="4">
                    <c:v>5-10km</c:v>
                  </c:pt>
                  <c:pt idx="5">
                    <c:v>&gt;10km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7400</c:v>
                </c:pt>
                <c:pt idx="1">
                  <c:v>7250</c:v>
                </c:pt>
                <c:pt idx="2">
                  <c:v>6980</c:v>
                </c:pt>
                <c:pt idx="3">
                  <c:v>6820</c:v>
                </c:pt>
                <c:pt idx="4">
                  <c:v>6650</c:v>
                </c:pt>
                <c:pt idx="5">
                  <c:v>6580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Georgia"/>
              </a:rPr>
              <a:t>Mean sales by assortment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sales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— basic</c:v>
                  </c:pt>
                  <c:pt idx="1">
                    <c:v>b — extra</c:v>
                  </c:pt>
                  <c:pt idx="2">
                    <c:v>c — extended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5750</c:v>
                </c:pt>
                <c:pt idx="1">
                  <c:v>10420</c:v>
                </c:pt>
                <c:pt idx="2">
                  <c:v>8300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Georgia"/>
              </a:rPr>
              <a:t>Validation RMSPE by model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RMSPE (lower is better)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Naive Store×DoW×Promo</c:v>
                  </c:pt>
                  <c:pt idx="1">
                    <c:v>Random Forest (250 k rows)</c:v>
                  </c:pt>
                  <c:pt idx="2">
                    <c:v>HistGradientBoosting (all)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0.226</c:v>
                </c:pt>
                <c:pt idx="1">
                  <c:v>0.148</c:v>
                </c:pt>
                <c:pt idx="2">
                  <c:v>0.113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8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Georgia"/>
              </a:rPr>
              <a:t>Top drivers (permutation importance)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RMSPE increase when shuffled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Promo</c:v>
                  </c:pt>
                  <c:pt idx="1">
                    <c:v>StoreMeanSalesPromo</c:v>
                  </c:pt>
                  <c:pt idx="2">
                    <c:v>DayOfWeek</c:v>
                  </c:pt>
                  <c:pt idx="3">
                    <c:v>StoreMeanSales</c:v>
                  </c:pt>
                  <c:pt idx="4">
                    <c:v>CompetitionDistanceLog</c:v>
                  </c:pt>
                  <c:pt idx="5">
                    <c:v>DaysToHoliday</c:v>
                  </c:pt>
                  <c:pt idx="6">
                    <c:v>MonthPhase</c:v>
                  </c:pt>
                  <c:pt idx="7">
                    <c:v>AnyPromo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0.081</c:v>
                </c:pt>
                <c:pt idx="1">
                  <c:v>0.062</c:v>
                </c:pt>
                <c:pt idx="2">
                  <c:v>0.055</c:v>
                </c:pt>
                <c:pt idx="3">
                  <c:v>0.048</c:v>
                </c:pt>
                <c:pt idx="4">
                  <c:v>0.033</c:v>
                </c:pt>
                <c:pt idx="5">
                  <c:v>0.028</c:v>
                </c:pt>
                <c:pt idx="6">
                  <c:v>0.021</c:v>
                </c:pt>
                <c:pt idx="7">
                  <c:v>0.017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8899855" y="-365760"/>
            <a:ext cx="3566160" cy="1097280"/>
          </a:xfrm>
          <a:prstGeom prst="rect">
            <a:avLst/>
          </a:prstGeom>
          <a:solidFill>
            <a:srgbClr val="16305C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10180015" y="6035040"/>
            <a:ext cx="2377440" cy="822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ROSSMANN PHARMACEUTICALS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07008"/>
            <a:ext cx="73152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Forecasting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E6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Multiple Retail Stores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machine-learning product that forecasts daily store sales six weeks ahead, engineered for the Finance team and store managers.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· ML 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897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Feature Engineering · ML · LSTM · API +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1,115 stores · Jan 2013 – Jul 2015 · ~1M store-days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forecast, at a glance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delivers, and why the Finance team can rely on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4231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423160"/>
            <a:ext cx="73152" cy="1417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14600"/>
            <a:ext cx="22402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wks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68680" y="324520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forecast horizon delivered per store, per 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24231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2423160"/>
            <a:ext cx="73152" cy="1417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514600"/>
            <a:ext cx="22402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1,115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611880" y="324520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 forecasted simultaneously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4231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423160"/>
            <a:ext cx="73152" cy="1417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514600"/>
            <a:ext cx="22402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RMSPE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55080" y="324520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Business-aligned relative-error metric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15400" y="24231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423160"/>
            <a:ext cx="73152" cy="1417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2514600"/>
            <a:ext cx="22402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tracks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098280" y="324520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Gradient-boosting model + 2-layer LSTM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1148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279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Beats the manager rule of thumb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470916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gradient-boosting model outperforms a store × weekday × promo historical average by a wide margin, cutting relative error meaningfully across the 6-week hold-out — the exact horizon Finance plans against.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41148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279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Explainable, not a black box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63440" y="470916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ranks the drivers (promo, store baseline, competition distance, day-of-week, holiday distance) so analysts can trace every forecast back to a business lever.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83880" y="41148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279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Served where analysts 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470916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downstream systems and a browser dashboard for direct use — six-week forecasts on demand, with confidence bands, CSV export, and no need to open a notebook.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managers forecast by intuition — Finance needs consistency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1,115 times over — six weeks ahead, every 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situation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forecast weekly sales using experience and gut feel.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 by manager, store type and time of year — Finance cannot audit or aggregate reliably.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team plans six weeks ahead across the entire chain and needs one comparable number per store, per day.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team confirms the drivers exist in-house: promotions, competition, holidays, seasonality, assortment, locality.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5166360" cy="3246120"/>
          </a:xfrm>
          <a:prstGeom prst="roundRect">
            <a:avLst>
              <a:gd name="adj" fmla="val 2817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4231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mandate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pPr indent="0" marL="0">
              <a:buNone/>
            </a:pPr>
            <a:r>
              <a:rPr lang="en-US" sz="15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serve</a:t>
            </a:r>
            <a:pPr indent="0" marL="0">
              <a:buNone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end-to-end product that puts a defensible six-week sales forecast in every analyst's hands.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393192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6305C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393192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6305C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44348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6305C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434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44348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6305C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4434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493776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6305C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937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0" y="493776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6305C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4937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stages, one reproducible pipeline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logged, versioned, and reruns identically on tomorrow's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8740" y="25603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348740" y="2560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 &amp; Clean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31620" y="3959352"/>
            <a:ext cx="457200" cy="27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4050792"/>
            <a:ext cx="18196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validation, dtype fixes for StateHoliday, imputation for competition / promo gaps.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99232" y="233172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62172" y="25603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3662172" y="2560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80" dirty="0"/>
          </a:p>
        </p:txBody>
      </p:sp>
      <p:sp>
        <p:nvSpPr>
          <p:cNvPr id="18" name="Text 16"/>
          <p:cNvSpPr/>
          <p:nvPr/>
        </p:nvSpPr>
        <p:spPr>
          <a:xfrm>
            <a:off x="3090672" y="3474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Craft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45052" y="3959352"/>
            <a:ext cx="457200" cy="27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3163824" y="4050792"/>
            <a:ext cx="18196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holiday distance, promo activation, competition tenure, per-store baselines.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12664" y="233172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75604" y="25603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5975604" y="2560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80" dirty="0"/>
          </a:p>
        </p:txBody>
      </p:sp>
      <p:sp>
        <p:nvSpPr>
          <p:cNvPr id="24" name="Text 22"/>
          <p:cNvSpPr/>
          <p:nvPr/>
        </p:nvSpPr>
        <p:spPr>
          <a:xfrm>
            <a:off x="5404104" y="3474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&amp; Validate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58484" y="3959352"/>
            <a:ext cx="457200" cy="27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5477256" y="4050792"/>
            <a:ext cx="18196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 · log-target regression · chronological 6-week hold-out · RMSPE.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26096" y="233172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9036" y="25603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8289036" y="2560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80" dirty="0"/>
          </a:p>
        </p:txBody>
      </p:sp>
      <p:sp>
        <p:nvSpPr>
          <p:cNvPr id="30" name="Text 28"/>
          <p:cNvSpPr/>
          <p:nvPr/>
        </p:nvSpPr>
        <p:spPr>
          <a:xfrm>
            <a:off x="7717536" y="3474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471916" y="3959352"/>
            <a:ext cx="457200" cy="27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7790688" y="4050792"/>
            <a:ext cx="18196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&amp; ACF/PACF diagnostics · sliding-window LSTM (2 layers) for the daily series.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939528" y="233172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02468" y="25603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5" name="Text 33"/>
          <p:cNvSpPr/>
          <p:nvPr/>
        </p:nvSpPr>
        <p:spPr>
          <a:xfrm>
            <a:off x="10602468" y="2560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80" dirty="0"/>
          </a:p>
        </p:txBody>
      </p:sp>
      <p:sp>
        <p:nvSpPr>
          <p:cNvPr id="36" name="Text 34"/>
          <p:cNvSpPr/>
          <p:nvPr/>
        </p:nvSpPr>
        <p:spPr>
          <a:xfrm>
            <a:off x="10030968" y="3474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785348" y="3959352"/>
            <a:ext cx="457200" cy="27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Text 36"/>
          <p:cNvSpPr/>
          <p:nvPr/>
        </p:nvSpPr>
        <p:spPr>
          <a:xfrm>
            <a:off x="10104120" y="4050792"/>
            <a:ext cx="18196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model artifacts · FastAPI predictions · analyst dashboard on the browser.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dataset actually looks like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Kaggle release — 1,115 stores across Germany, Jan 2013 – Jul 2015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31720"/>
            <a:ext cx="73152" cy="12801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423160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1.02M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68680" y="3074213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Store-day training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23317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2331720"/>
            <a:ext cx="73152" cy="12801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423160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1,115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611880" y="3074213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749040"/>
            <a:ext cx="73152" cy="12801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840480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942 d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68680" y="4491533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daily history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749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3749040"/>
            <a:ext cx="73152" cy="12801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3840480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611880" y="4491533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dropped: closed / zero-sales days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33172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&amp; fields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3796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train.csv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0" y="30175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Date, Sales, Customers, Open, Promo, StateHoliday, SchoolHoliday, DayOfWeek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37960" y="3886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test.csv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8160" y="38862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 minus Sales/Customers — target of the six-week forecast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37960" y="4754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store.csv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38160" y="4754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StoreType (a-d), Assortment (a-c), CompetitionDistance, CompetitionOpenSince*, Promo2 fields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37960" y="5257800"/>
            <a:ext cx="4937760" cy="2743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53949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notes:  </a:t>
            </a:r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StateHoliday mixes int/str (normalised at load); ~3 stores are missing CompetitionDistance (imputed as far); ~172k rows are closed days (excluded from training).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PROMOTION DISTRIBUTION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 prevalence is consistent between train and test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distribution shift — the model's promo effect will transfer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33172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909560" y="233172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24963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 runs Mon – Fri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38160" y="292608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Promo=1 schedule is a weekday campaign. Saturdays see a handful, Sundays essentially none — matching the store-closure pattern.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09560" y="43434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45079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≈ Test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38160" y="4937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promo share between the two sets is negligible on any weekday. The forecast horizon does not deviate from the promo mix the model was trained on.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HOLIDAYS &amp; SEASONALITY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pull forward before holidays, then rebound after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 dominates the year — December is +30 % over the annual mean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331720"/>
          <a:ext cx="69494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85800" y="4343400"/>
          <a:ext cx="69494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909560" y="233172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138160" y="24963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December is the peak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38160" y="292608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daily sales run roughly a third above the yearly average — driven by the last ten days before Christmas. Any forecast that misses this misses the year.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09560" y="43434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38160" y="45079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Pull-forward, then rebound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138160" y="4937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days before a state holiday are the strongest of the cycle (+20 % vs normal). The three days after also lift by ~15 % as customers restock. The model captures both via distance-to-holiday features.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WEEKLY &amp; LONG-TERM PATTERNS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Mondays are peak — Sundays are essentially zero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 is stable across years; the Christmas spike is the largest signal in the series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3317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263640" y="233172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85800" y="603504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6EEF8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6035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day: Monday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97580" y="603504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6EEF8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97580" y="6035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Trough: Sunday (most stores closed)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603504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6EEF8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9360" y="6035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Pre-Christmas surge: +130 % vs normal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121140" y="603504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6EEF8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21140" y="6035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Post-Christmas dip: −40 % (23→30 Dec)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PROMO MECHANISM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 lifts sales via bigger baskets, not more customers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customers are near-perfectly correlated — but promo shifts spend-per-customer, not footfall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31720"/>
            <a:ext cx="73152" cy="1417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423160"/>
            <a:ext cx="342900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0.82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68680" y="315376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correlation, Sales vs Customers (open days)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886200"/>
            <a:ext cx="73152" cy="1417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77640"/>
            <a:ext cx="342900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8680" y="470824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sales uplift on promo days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0" y="2331720"/>
          <a:ext cx="69951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85800" y="5486400"/>
            <a:ext cx="10820095" cy="822960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504688"/>
            <a:ext cx="1036289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 </a:t>
            </a:r>
            <a:pPr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 mechanism is spend-per-customer expansion, not new traffic. Marketing dollars are converting existing shoppers to larger baskets — a defensible ROI story to bring to Finance.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PROMO TARGETING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 response varies six-fold across stores — target the responders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store's own history says who benefits most from the next promo day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33172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909560" y="23317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24963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recommendation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38160" y="29260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promo days from the bottom quartile (uplift &lt; 8 %) to the top quartile (uplift &gt; 25 %) — a same-cost redeployment could lift total incremental revenue by an estimated 12–18 %.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09560" y="43434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0B1F3A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Under-served + high response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92440" y="48006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with above-P75 promo uplift but below-median promo frequency — priority list for the next campaign cycle.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92440" y="5623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 stores identified · median uplift 32 %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COMPETITION &amp; ASSORTMENT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 matters — but not the way intuition suggests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the nearest competitor and assortment breadth both move sales, in opposite directions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3317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263640" y="233172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85800" y="553212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E6EEF8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8680" y="555040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counter-intuitive finding: </a:t>
            </a:r>
            <a:pPr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competition is associated with 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pPr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 — the natural explanation is that competitors cluster in high-traffic city centres. Assortment 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(extra)</a:t>
            </a:r>
            <a:pPr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outperforms the basic tier by ~1.8×, but is present in only a fraction of stores.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 features across five business lenses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family maps to a business driver the Finance team can point 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2231136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31720"/>
            <a:ext cx="2231136" cy="411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59152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 &amp; seasonality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834640"/>
            <a:ext cx="195681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Month · Day · WeekOfYear · DayOfYear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IsWeekend · IsSunday · IsMonthStart / End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Sin/Cos encoding of Month + DayOfWeek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MonthPhase (begin / mid / end)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35808" y="2331720"/>
            <a:ext cx="2231136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35808" y="2331720"/>
            <a:ext cx="2231136" cy="4114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3127248" y="2359152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Holiday distance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172968" y="2834640"/>
            <a:ext cx="195681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DaysToHoliday · DaysAfterHoliday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StateHolidayShare · SchoolHolidayShare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IsStateHoliday flag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85816" y="2331720"/>
            <a:ext cx="2231136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5816" y="2331720"/>
            <a:ext cx="2231136" cy="41148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9" name="Text 17"/>
          <p:cNvSpPr/>
          <p:nvPr/>
        </p:nvSpPr>
        <p:spPr>
          <a:xfrm>
            <a:off x="5477256" y="2359152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22976" y="2834640"/>
            <a:ext cx="195681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(daily flag) · Promo2 (long-run)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IsPromo2Month (active this month?)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Promo2Weeks tenure · AnyPromo · Promo×Weekend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35824" y="2331720"/>
            <a:ext cx="2231136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35824" y="2331720"/>
            <a:ext cx="2231136" cy="411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3" name="Text 21"/>
          <p:cNvSpPr/>
          <p:nvPr/>
        </p:nvSpPr>
        <p:spPr>
          <a:xfrm>
            <a:off x="7827264" y="2359152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72984" y="2834640"/>
            <a:ext cx="195681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CompetitionDistance (raw + log1p)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CompetitionOpenMonths · CompetitionIsOpen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NoCompetition flag (imputed stores)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85832" y="2331720"/>
            <a:ext cx="2231136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85832" y="2331720"/>
            <a:ext cx="2231136" cy="4114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7" name="Text 25"/>
          <p:cNvSpPr/>
          <p:nvPr/>
        </p:nvSpPr>
        <p:spPr>
          <a:xfrm>
            <a:off x="10177272" y="2359152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/ locality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222992" y="2834640"/>
            <a:ext cx="195681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StoreType · Assortment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StoreMeanSales · MedianSales · StdSales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StoreMeanSalesPromo vs NoPromo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StoreSalesPerCustomer (basket size proxy)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sklearn pipeline — from raw column to serialised model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validation, log-target regression, gradient-boosted trees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for numerics, mode for categoricals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1800000">
            <a:off x="2807208" y="2752344"/>
            <a:ext cx="164592" cy="164592"/>
          </a:xfrm>
          <a:prstGeom prst="rightTriangle">
            <a:avLst/>
          </a:prstGeom>
          <a:solidFill>
            <a:srgbClr val="C8102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90088" y="23317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2990088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81528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categoricals (unknown → zero)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1800000">
            <a:off x="5111496" y="2752344"/>
            <a:ext cx="164592" cy="164592"/>
          </a:xfrm>
          <a:prstGeom prst="rightTriangle">
            <a:avLst/>
          </a:prstGeom>
          <a:solidFill>
            <a:srgbClr val="C810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294376" y="23317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5294376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85816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numerics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1800000">
            <a:off x="7415784" y="2752344"/>
            <a:ext cx="164592" cy="164592"/>
          </a:xfrm>
          <a:prstGeom prst="rightTriangle">
            <a:avLst/>
          </a:prstGeom>
          <a:solidFill>
            <a:srgbClr val="C810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598664" y="23317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7598664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90104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← log1p(Sales)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1800000">
            <a:off x="9720072" y="2752344"/>
            <a:ext cx="164592" cy="164592"/>
          </a:xfrm>
          <a:prstGeom prst="rightTriangle">
            <a:avLst/>
          </a:prstGeom>
          <a:solidFill>
            <a:srgbClr val="C8102E"/>
          </a:solidFill>
          <a:ln/>
        </p:spPr>
      </p:sp>
      <p:sp>
        <p:nvSpPr>
          <p:cNvPr id="25" name="Shape 23"/>
          <p:cNvSpPr/>
          <p:nvPr/>
        </p:nvSpPr>
        <p:spPr>
          <a:xfrm>
            <a:off x="9902952" y="23317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9902952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HistGB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4392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HistGradientBoostingRegressor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3703320"/>
            <a:ext cx="5532120" cy="256032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867912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strategy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429768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hold-out is the LAST 6 weeks of history — the exact horizon Finance forecasts against. A random K-fold would leak future weeks of the same store back into training and inflate the score. This chronological split reports an honest number the analysts can bank 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46520" y="370332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86791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RMSPE + log-target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75120" y="429768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RMSPE is Rossmann's official metric — a % error that penalises a €500 miss on a small store more than on a large one. Squared error on log1p(Sales) is mathematically equivalent to minimising RELATIVE error, aligning gradient-boosting's optimiser with what the business is scored on.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RESULTS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comfortably beats the manager rule of thumb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Six-week hold-out · RMSPE lower is better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33172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492240" y="2331720"/>
          <a:ext cx="5074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85800" y="5806440"/>
            <a:ext cx="3515258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5806440"/>
            <a:ext cx="3240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 </a:t>
            </a:r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RMSPE vs the naive baseline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38218" y="5806440"/>
            <a:ext cx="3515258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</p:sp>
      <p:sp>
        <p:nvSpPr>
          <p:cNvPr id="14" name="Text 10"/>
          <p:cNvSpPr/>
          <p:nvPr/>
        </p:nvSpPr>
        <p:spPr>
          <a:xfrm>
            <a:off x="4475378" y="5806440"/>
            <a:ext cx="3240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±14 %  </a:t>
            </a:r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empirical prediction interval on hold-out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90637" y="5806440"/>
            <a:ext cx="3515258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</p:sp>
      <p:sp>
        <p:nvSpPr>
          <p:cNvPr id="16" name="Text 12"/>
          <p:cNvSpPr/>
          <p:nvPr/>
        </p:nvSpPr>
        <p:spPr>
          <a:xfrm>
            <a:off x="8127797" y="5806440"/>
            <a:ext cx="3240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30-08-...pkl  </a:t>
            </a:r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Timestamped, versioned artefact per training run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LSTM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two-layer LSTM on the daily sales series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→ differencing → sliding-window supervised learning → stacked LSTM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Time-series workflow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788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8072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to a single daily total-sales series across all open stores.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337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3558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Dickey-Fuller — series is trend/seasonal, so it is NON-stationary in raw form.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3886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886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904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differencing removes the drift; second ADF confirms stationarity (p ≪ 0.05).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434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434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ACF / PACF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4531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weekly lags (7, 14, 21) → window size of 28 days chosen for the LSTM input.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4983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983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50017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window: last 28 days predict next day; scale into (−1, 1) with MinMaxScaler.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532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5532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51760" y="55504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LSTM, 64 hidden units, 0.2 dropout — PyTorch, CPU-friendly.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0" y="2331720"/>
            <a:ext cx="4983480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24688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66560" y="2926080"/>
            <a:ext cx="4617720" cy="384048"/>
          </a:xfrm>
          <a:prstGeom prst="roundRect">
            <a:avLst>
              <a:gd name="adj" fmla="val 11905"/>
            </a:avLst>
          </a:prstGeom>
          <a:solidFill>
            <a:srgbClr val="16305C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29260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138160" y="2926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(batch, 28, 1) — 28-day window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66560" y="3383280"/>
            <a:ext cx="4617720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33832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1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38160" y="3383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= 64 · dropout 0.2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0" y="3840480"/>
            <a:ext cx="4617720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3840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2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138160" y="3840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= 64 · returns last step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766560" y="4297680"/>
            <a:ext cx="4617720" cy="384048"/>
          </a:xfrm>
          <a:prstGeom prst="roundRect">
            <a:avLst>
              <a:gd name="adj" fmla="val 11905"/>
            </a:avLst>
          </a:prstGeom>
          <a:solidFill>
            <a:srgbClr val="16305C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0" y="4297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138160" y="4297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66560" y="4754880"/>
            <a:ext cx="4617720" cy="384048"/>
          </a:xfrm>
          <a:prstGeom prst="roundRect">
            <a:avLst>
              <a:gd name="adj" fmla="val 11905"/>
            </a:avLst>
          </a:prstGeom>
          <a:solidFill>
            <a:srgbClr val="16305C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0" y="4754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138160" y="4754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Linear(64 → 1)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66560" y="5212080"/>
            <a:ext cx="4617720" cy="384048"/>
          </a:xfrm>
          <a:prstGeom prst="roundRect">
            <a:avLst>
              <a:gd name="adj" fmla="val 11905"/>
            </a:avLst>
          </a:prstGeom>
          <a:solidFill>
            <a:srgbClr val="16305C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0" y="52120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138160" y="5212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sales (scaled)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surfaces: an API for systems, a dashboard for analysts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serialised artefact powers both — same predictions, same audit trail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— FastAPI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2880360"/>
            <a:ext cx="4572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175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/health
</a:t>
            </a:r>
            <a:pPr indent="0" marL="0">
              <a:buNone/>
            </a:pPr>
            <a:r>
              <a:rPr lang="en-US" sz="1300" b="1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/stores
</a:t>
            </a:r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
</a:t>
            </a:r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/predict/batch
</a:t>
            </a:r>
            <a:pPr indent="0" marL="0">
              <a:buNone/>
            </a:pPr>
            <a:r>
              <a:rPr lang="en-US" sz="1300" b="1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/model/latest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4937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loads the latest .pkl artefact, applies the exact preprocessing the model was fitted with, and returns predictions with 80 % / 95 % empirical intervals derived from hold-out residuals.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233172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 Dashboard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55080" y="2880360"/>
            <a:ext cx="4572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0175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of the 1,115 stores from a searchable dropdown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six-week forecast as an interactive line chart with 80 % band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with Date/IsHoliday/IsPromo — get predictions back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daily / weekly / cumulative view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predictions and drivers as CSV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29260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02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NEXT STEPS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Finance gets today — and what comes next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— available now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834640"/>
            <a:ext cx="4572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1752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Six-week forecast for every store, refreshed daily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auditable numbers replacing 1,115 manager judgements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Store-level RMSPE published so analysts know which forecasts to trust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Under-served / high-response stores flagged for promo re-allocation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prediction intervals for planning under uncertainty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3774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iterations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2834640"/>
            <a:ext cx="4572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01752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weather &amp; regional macro data — the biggest exogenous drivers still missing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fine-tuning for the top-100 revenue outlets (transfer-learn from the global model)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model registry + DVC data versioning across environments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retraining schedule with drift alarms on validation RMSPE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LSTM to a Temporal Fusion Transformer for interpretable multi-horizon forecasts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Sales Forecasting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8899855" y="-365760"/>
            <a:ext cx="3566160" cy="1097280"/>
          </a:xfrm>
          <a:prstGeom prst="rect">
            <a:avLst/>
          </a:prstGeom>
          <a:solidFill>
            <a:srgbClr val="16305C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10180015" y="6035040"/>
            <a:ext cx="2377440" cy="822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73152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edge cases and pilot planning welcome.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6858000" cy="1417320"/>
          </a:xfrm>
          <a:prstGeom prst="roundRect">
            <a:avLst>
              <a:gd name="adj" fmla="val 6452"/>
            </a:avLst>
          </a:prstGeom>
          <a:solidFill>
            <a:srgbClr val="1630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006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 package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 </a:t>
            </a:r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notebooks + modularised src/  </a:t>
            </a:r>
            <a:pPr indent="0" marL="0">
              <a:buNone/>
            </a:pPr>
            <a:r>
              <a:rPr lang="en-US" sz="1200" b="1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 </a:t>
            </a:r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.pkl artefacts  </a:t>
            </a:r>
            <a:pPr indent="0" marL="0">
              <a:buNone/>
            </a:pPr>
            <a:r>
              <a:rPr lang="en-US" sz="1200" b="1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Serving  </a:t>
            </a:r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Dashboard  </a:t>
            </a:r>
            <a:pPr indent="0" marL="0">
              <a:buNone/>
            </a:pPr>
            <a:r>
              <a:rPr lang="en-US" sz="1200" b="1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Reports  </a:t>
            </a:r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JSON + per-store RMSPE CSV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· Machine Learning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Rossmann Pharmaceuticals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Rossmann Sales Forecasting</dc:title>
  <dc:subject>Six-week-ahead store sales forecasting</dc:subject>
  <dc:creator>NextHikes IT Solutions — ML Engineering</dc:creator>
  <cp:lastModifiedBy>NextHikes IT Solutions — ML Engineering</cp:lastModifiedBy>
  <cp:revision>1</cp:revision>
  <dcterms:created xsi:type="dcterms:W3CDTF">2026-09-16T07:48:48Z</dcterms:created>
  <dcterms:modified xsi:type="dcterms:W3CDTF">2026-09-16T07:48:48Z</dcterms:modified>
</cp:coreProperties>
</file>